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261" r:id="rId5"/>
    <p:sldId id="263" r:id="rId6"/>
    <p:sldId id="265" r:id="rId7"/>
    <p:sldId id="267" r:id="rId8"/>
    <p:sldId id="270" r:id="rId9"/>
    <p:sldId id="272" r:id="rId10"/>
    <p:sldId id="274" r:id="rId11"/>
    <p:sldId id="276" r:id="rId12"/>
    <p:sldId id="279" r:id="rId13"/>
    <p:sldId id="28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Average Salary by Industry Sector (Lakhs PA)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(LPA)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69B-4BAB-BE5C-00CFB514327B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9B-4BAB-BE5C-00CFB514327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69B-4BAB-BE5C-00CFB514327B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69B-4BAB-BE5C-00CFB514327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69B-4BAB-BE5C-00CFB514327B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69B-4BAB-BE5C-00CFB514327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69B-4BAB-BE5C-00CFB514327B}"/>
              </c:ext>
            </c:extLst>
          </c:dPt>
          <c:dPt>
            <c:idx val="7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69B-4BAB-BE5C-00CFB514327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IT/Tech</c:v>
                </c:pt>
                <c:pt idx="1">
                  <c:v>Finance</c:v>
                </c:pt>
                <c:pt idx="2">
                  <c:v>Consulting</c:v>
                </c:pt>
                <c:pt idx="3">
                  <c:v>FMCG</c:v>
                </c:pt>
                <c:pt idx="4">
                  <c:v>Healthcare</c:v>
                </c:pt>
                <c:pt idx="5">
                  <c:v>E-Commerce</c:v>
                </c:pt>
                <c:pt idx="6">
                  <c:v>Manufacturing</c:v>
                </c:pt>
                <c:pt idx="7">
                  <c:v>Education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28.4</c:v>
                </c:pt>
                <c:pt idx="1">
                  <c:v>34.200000000000003</c:v>
                </c:pt>
                <c:pt idx="2">
                  <c:v>31.8</c:v>
                </c:pt>
                <c:pt idx="3">
                  <c:v>22.1</c:v>
                </c:pt>
                <c:pt idx="4">
                  <c:v>19.5</c:v>
                </c:pt>
                <c:pt idx="5">
                  <c:v>26.7</c:v>
                </c:pt>
                <c:pt idx="6">
                  <c:v>18.899999999999999</c:v>
                </c:pt>
                <c:pt idx="7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69B-4BAB-BE5C-00CFB51432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Actual vs Predicted Salary by Sector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Avg (LPA)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IT</c:v>
                </c:pt>
                <c:pt idx="1">
                  <c:v>Finance</c:v>
                </c:pt>
                <c:pt idx="2">
                  <c:v>Consult</c:v>
                </c:pt>
                <c:pt idx="3">
                  <c:v>FMCG</c:v>
                </c:pt>
                <c:pt idx="4">
                  <c:v>Healthcare</c:v>
                </c:pt>
                <c:pt idx="5">
                  <c:v>E-Comm</c:v>
                </c:pt>
                <c:pt idx="6">
                  <c:v>Mfg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28.4</c:v>
                </c:pt>
                <c:pt idx="1">
                  <c:v>34.200000000000003</c:v>
                </c:pt>
                <c:pt idx="2">
                  <c:v>31.8</c:v>
                </c:pt>
                <c:pt idx="3">
                  <c:v>22.1</c:v>
                </c:pt>
                <c:pt idx="4">
                  <c:v>19.5</c:v>
                </c:pt>
                <c:pt idx="5">
                  <c:v>26.7</c:v>
                </c:pt>
                <c:pt idx="6">
                  <c:v>18.899999999999999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EF-4C36-A044-B0D2C63671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Avg (LPA)</c:v>
                </c:pt>
              </c:strCache>
            </c:strRef>
          </c:tx>
          <c:spPr>
            <a:solidFill>
              <a:srgbClr val="FFB70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IT</c:v>
                </c:pt>
                <c:pt idx="1">
                  <c:v>Finance</c:v>
                </c:pt>
                <c:pt idx="2">
                  <c:v>Consult</c:v>
                </c:pt>
                <c:pt idx="3">
                  <c:v>FMCG</c:v>
                </c:pt>
                <c:pt idx="4">
                  <c:v>Healthcare</c:v>
                </c:pt>
                <c:pt idx="5">
                  <c:v>E-Comm</c:v>
                </c:pt>
                <c:pt idx="6">
                  <c:v>Mfg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27.8</c:v>
                </c:pt>
                <c:pt idx="1">
                  <c:v>33.5</c:v>
                </c:pt>
                <c:pt idx="2">
                  <c:v>30.9</c:v>
                </c:pt>
                <c:pt idx="3">
                  <c:v>22.6</c:v>
                </c:pt>
                <c:pt idx="4">
                  <c:v>19.899999999999999</c:v>
                </c:pt>
                <c:pt idx="5">
                  <c:v>27.1</c:v>
                </c:pt>
                <c:pt idx="6">
                  <c:v>18.399999999999999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EF-4C36-A044-B0D2C6367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20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5.png"/><Relationship Id="rId10" Type="http://schemas.openxmlformats.org/officeDocument/2006/relationships/image" Target="../media/image24.png"/><Relationship Id="rId4" Type="http://schemas.openxmlformats.org/officeDocument/2006/relationships/image" Target="../media/image14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3291840" cy="5015484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128016" cy="50154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82880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</a:rPr>
              <a:t>TECHNOLOGY STACK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82880" y="221284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Python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Scikit-learn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Pandas &amp; NumPy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Streamlit Web App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GitHub + Streamlit Cloud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82880" y="3429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</a:rPr>
              <a:t>DATASET SNAPSHOT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2880" y="372160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11,000 Employee Records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15 Industry Sectors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123 Job Roles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49 Degree Types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</a:rPr>
              <a:t>148 Specializations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66160" y="457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0B4D8"/>
                </a:solidFill>
              </a:rPr>
              <a:t>IBM PBEL 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160" y="86868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SALARY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PREDICTION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SYSTEM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3566160" y="3429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</a:rPr>
              <a:t>Machine Learning Based Salary Estimation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</a:rPr>
              <a:t>for the Indian Job Market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66160" y="4160520"/>
            <a:ext cx="521208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566160" y="41605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Deepak Kumar -57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BCA DS and AI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614F88F-8DA2-2703-C20C-8665FEB6BF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18" b="11850"/>
          <a:stretch>
            <a:fillRect/>
          </a:stretch>
        </p:blipFill>
        <p:spPr>
          <a:xfrm>
            <a:off x="173719" y="99123"/>
            <a:ext cx="3118121" cy="1311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INTRODUCTION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Why salary prediction matters in today's competitive landscape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The Challenge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1481328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Students entering the job market have little visibility into realistic salary expectations for their profile.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74320" y="219456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74320" y="219456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2257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228600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Existing salary portals provide generic ranges without factoring in degree, specialization, or company size.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274320" y="299923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274320" y="2999232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2724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09067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Professionals switching roles struggle to negotiate fair compensation without data-backed benchmarks.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274320" y="380390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274320" y="3803904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3192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89534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HR teams lack tools to standardize compensation structures across diverse job roles and locations.</a:t>
            </a:r>
            <a:endParaRPr lang="en-US" sz="12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9EF0771-09C1-1B65-9C2A-170717292D7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123" t="15057" r="25578" b="16284"/>
          <a:stretch>
            <a:fillRect/>
          </a:stretch>
        </p:blipFill>
        <p:spPr>
          <a:xfrm>
            <a:off x="7160684" y="29054"/>
            <a:ext cx="1690708" cy="1312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PROBLEM STATEMENT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Defining the core prediction task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969264"/>
            <a:ext cx="50292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969264"/>
            <a:ext cx="5029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Core Task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5087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Given a professional's profile, predict their Annual Cost-to-Company (CTC) salary in Indian Rupees (INR).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1762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</a:rPr>
              <a:t>Input Variables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24963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Education Degree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27706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Specialization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7238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30449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Job Sector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34670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33192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Job Role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62102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" y="3593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Years of Experience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389534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" y="38679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Company Size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416966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5800" y="41422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Work City Tier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77840" y="969264"/>
            <a:ext cx="32918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577840" y="1115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B4D8"/>
                </a:solidFill>
              </a:rPr>
              <a:t>TARGET OUTPUT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57784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Annual CTC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55778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E0EF"/>
                </a:solidFill>
              </a:rPr>
              <a:t>in Indian Rupees (INR)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7784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0"/>
                </a:solidFill>
              </a:rPr>
              <a:t>Continuous Regression Task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2926080"/>
            <a:ext cx="3291840" cy="190195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566928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Scope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669280" y="3291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Geography: India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Salary: Annual CTC in Lakhs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Experience: 0–30 years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Dataset Year: 2026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Task Type: Regression (ML)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B5285A3-4622-4A46-F948-303E0788DA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76" t="9200" r="20993" b="11987"/>
          <a:stretch>
            <a:fillRect/>
          </a:stretch>
        </p:blipFill>
        <p:spPr>
          <a:xfrm>
            <a:off x="2386037" y="2208276"/>
            <a:ext cx="2848903" cy="2130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PROJECT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Clear, measurable goals guiding the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00584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10789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Dataset Construction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1417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Build a synthetic yet realistic dataset of 11,000 employee records covering 15 industries, 123 roles, 49 degrees and 148 specializations representing the 2026 Indian job market.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09160" y="1005840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10789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ML Model Training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03520" y="1417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Train a Gradient Boosting Regressor using a Scikit-learn pipeline that handles all preprocessing automatically — encoding and scaling — achieving R² &gt; 0.92.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13432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313432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2313432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2386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Interactive Web App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27249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Deploy the trained model as a Streamlit web application that takes 7 user inputs and returns predicted annual salary, salary range, and monthly estimate in real time.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313432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2313432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09160" y="2313432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03520" y="2386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Public Deployment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03520" y="272491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Host the application on Streamlit Cloud via GitHub so that any student, professional, or recruiter can access the salary predictor from any device, anywhere.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74320" y="3621024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4320" y="3621024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" y="36941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Interpretability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8680" y="40325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Ensure the system is understandable — provide salary ranges (not just a single number) and lay groundwork for SHAP-based explanations in future iterations.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621024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09160" y="3621024"/>
            <a:ext cx="5029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09160" y="3621024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03520" y="36941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Scalability &amp; Extensibility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303520" y="40325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Design the codebase and pipeline to be modular — allowing future upgrades to XGBoost, LightGBM, REST API exposure, or integration with resume parsing.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8298ED2-3C76-07E4-04D8-292C7CF2D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10" t="12035" r="22789" b="15910"/>
          <a:stretch>
            <a:fillRect/>
          </a:stretch>
        </p:blipFill>
        <p:spPr>
          <a:xfrm>
            <a:off x="7752690" y="47376"/>
            <a:ext cx="1208430" cy="9193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DATASET OVERVIEW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11,000 records representing the 2026 Indian job market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27432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2167128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" y="10698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</a:rPr>
              <a:t>11,000+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6032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Records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" y="198196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0"/>
                </a:solidFill>
              </a:rPr>
              <a:t>Employee salary data points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63824" y="960120"/>
            <a:ext cx="27432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163824" y="2167128"/>
            <a:ext cx="2743200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163824" y="10698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703"/>
                </a:solidFill>
              </a:rPr>
              <a:t>15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163824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Industry Sectors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72968" y="198196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0"/>
                </a:solidFill>
              </a:rPr>
              <a:t>IT, Finance, Healthcare, Edu...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960120"/>
            <a:ext cx="27432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71616" y="2167128"/>
            <a:ext cx="2743200" cy="9144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71616" y="10698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F5D4"/>
                </a:solidFill>
              </a:rPr>
              <a:t>123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071616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Job Roles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17336" y="196824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0"/>
                </a:solidFill>
              </a:rPr>
              <a:t>Analyst to VP-level positions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423160"/>
            <a:ext cx="27432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56032" y="3630168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6032" y="25328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</a:rPr>
              <a:t>49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256032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Degree Types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" y="34427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0"/>
                </a:solidFill>
              </a:rPr>
              <a:t>B.Tech, MBA, PhD, MCA &amp; more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63824" y="2423160"/>
            <a:ext cx="27432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163824" y="3630168"/>
            <a:ext cx="2743200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163824" y="25328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703"/>
                </a:solidFill>
              </a:rPr>
              <a:t>148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3163824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Specializations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63824" y="34427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0"/>
                </a:solidFill>
              </a:rPr>
              <a:t>CS, Data Science, Marketing...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71616" y="2423160"/>
            <a:ext cx="27432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071616" y="3630168"/>
            <a:ext cx="2743200" cy="9144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071616" y="25328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F5D4"/>
                </a:solidFill>
              </a:rPr>
              <a:t>13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6071616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Columns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71616" y="34427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0"/>
                </a:solidFill>
              </a:rPr>
              <a:t>7 features + 1 target + metadata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4023360"/>
            <a:ext cx="8631936" cy="7772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6576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</a:rPr>
              <a:t>SALARY STATISTICS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Min: ₹3.90 L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200400" y="4297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703"/>
                </a:solidFill>
              </a:rPr>
              <a:t>Max: ₹98.89 L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126480" y="4297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5D4"/>
                </a:solidFill>
              </a:rPr>
              <a:t>Mean: ₹23.81 L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2971800" y="4096512"/>
            <a:ext cx="36576" cy="62179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943600" y="4096512"/>
            <a:ext cx="36576" cy="62179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4FA459C-3502-5D63-537F-23078731D9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10" t="14783" r="25306" b="13417"/>
          <a:stretch>
            <a:fillRect/>
          </a:stretch>
        </p:blipFill>
        <p:spPr>
          <a:xfrm>
            <a:off x="7647312" y="19688"/>
            <a:ext cx="1167504" cy="930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SALARY DISTRIBUTION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How salaries are distributed across the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969264"/>
          <a:ext cx="53035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852160" y="9692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Salary Band Distribution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141732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852160" y="1417320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138160" y="14904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63946"/>
                </a:solidFill>
              </a:rPr>
              <a:t>8%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89320" y="14904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&lt; ₹10 L/year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18196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18096"/>
                </a:solidFill>
              </a:rPr>
              <a:t>Entry-level, Tier-3 cities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313432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852160" y="2313432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138160" y="23865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42%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989320" y="23865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₹10–25 L/year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89320" y="27157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18096"/>
                </a:solidFill>
              </a:rPr>
              <a:t>Mid-level, most common band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52160" y="3209544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852160" y="3209544"/>
            <a:ext cx="73152" cy="7498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138160" y="32826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B703"/>
                </a:solidFill>
              </a:rPr>
              <a:t>35%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989320" y="32826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₹25–50 L/year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89320" y="36118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18096"/>
                </a:solidFill>
              </a:rPr>
              <a:t>Senior roles, MNC/Large Corp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852160" y="4105656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5852160" y="4105656"/>
            <a:ext cx="73152" cy="749808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8138160" y="41788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F5D4"/>
                </a:solidFill>
              </a:rPr>
              <a:t>15%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989320" y="4178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&gt; ₹50 L/year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89320" y="4507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18096"/>
                </a:solidFill>
              </a:rPr>
              <a:t>Leadership, top companies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DATA PREPROCESSING PIPELINE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6-step pipeline to prepare data for machine learning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9784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6012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Drop Irrelevant Columns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13898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Remove Employee_ID, Name, and raw City fields that do not contribute to salary prediction. This reduces noise and prevents data leakage.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9160" y="96012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709160" y="960120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8016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09160" y="9784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02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39496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Handle Missing Values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94960" y="13898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Apply mode imputation for all categorical columns. Numeric columns (Experience_Years) use median imputation to preserve the distribution.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74320" y="2221992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274320" y="2221992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542032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74320" y="2240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960120" y="2295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Standardize Text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60120" y="2651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Lowercase all string values and strip extra whitespace. Normalize variants like 'B.Tech', 'BTech', 'b.tech' into a single canonical form.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09160" y="2221992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4709160" y="2221992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542032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09160" y="2240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04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394960" y="2295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City → City Tier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394960" y="2651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Map all 500+ city names into City_Tier (1, 2, or 3) using a curated lookup table based on population and economic data, reducing cardinality.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274320" y="3483864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274320" y="3483864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803904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74320" y="35021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05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960120" y="3557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OneHot Encoding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60120" y="39136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Apply pandas get_dummies() (or Scikit-learn OneHotEncoder) to all categorical features. This converts 7 categorical columns into ~350 binary columns.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4709160" y="3483864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4709160" y="3483864"/>
            <a:ext cx="59436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803904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709160" y="35021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06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394960" y="3557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Standard Scaling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5394960" y="39136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Apply StandardScaler to Experience_Years only, transforming it to zero mean and unit variance. Tree-based models don't need scaling but it ensures consistency.</a:t>
            </a:r>
            <a:endParaRPr lang="en-US" sz="950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24393CF5-CA16-2E37-26D1-D878908F6F1B}"/>
              </a:ext>
            </a:extLst>
          </p:cNvPr>
          <p:cNvSpPr/>
          <p:nvPr/>
        </p:nvSpPr>
        <p:spPr>
          <a:xfrm>
            <a:off x="4800600" y="216843"/>
            <a:ext cx="54472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Transforming raw data into ML-ready feature sets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ALGORITHM SELECTION — WHY GRADIENT BOOSTING?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Comparing regression algorithms considered for this task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911510"/>
              </p:ext>
            </p:extLst>
          </p:nvPr>
        </p:nvGraphicFramePr>
        <p:xfrm>
          <a:off x="274320" y="969264"/>
          <a:ext cx="8503920" cy="2423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R² Score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Key Advantage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Selected?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Linear Regression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~0.61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~3.8L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Fast, interpretable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Assumes linearity; poor with categorical interactions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718096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Decision Tree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~0.78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~2.1L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Non-linear, no scaling needed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High variance; overfits without pruning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718096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Random Forest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~0.89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~1.4L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Strong ensemble, handles missing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</a:rPr>
                        <a:t>Slower, less interpretable than boosting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718096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77B6"/>
                          </a:solidFill>
                        </a:rPr>
                        <a:t>Gradient Boosting ✓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77B6"/>
                          </a:solidFill>
                        </a:rPr>
                        <a:t>~0.94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77B6"/>
                          </a:solidFill>
                        </a:rPr>
                        <a:t>~0.5L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77B6"/>
                          </a:solidFill>
                        </a:rPr>
                        <a:t>Best accuracy, handles mixed data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77B6"/>
                          </a:solidFill>
                        </a:rPr>
                        <a:t>Slightly slower to train than RF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EC4B6"/>
                          </a:solidFill>
                        </a:rPr>
                        <a:t>YES ★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429000"/>
            <a:ext cx="8595360" cy="1344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3493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Why Gradient Boosting Regressor?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8221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0"/>
                </a:solidFill>
              </a:rPr>
              <a:t>Gradient Boosting builds trees sequentially — each tree corrects errors from the previous one. This iterative refinement makes it exceptionally good at capturing </a:t>
            </a:r>
            <a:r>
              <a:rPr lang="en-US" sz="1150" b="1" dirty="0">
                <a:solidFill>
                  <a:srgbClr val="00B4D8"/>
                </a:solidFill>
              </a:rPr>
              <a:t>non-linear relationships</a:t>
            </a:r>
            <a:r>
              <a:rPr lang="en-US" sz="1150" dirty="0">
                <a:solidFill>
                  <a:srgbClr val="CBD5E0"/>
                </a:solidFill>
              </a:rPr>
              <a:t> and </a:t>
            </a:r>
            <a:r>
              <a:rPr lang="en-US" sz="1150" b="1" dirty="0">
                <a:solidFill>
                  <a:srgbClr val="00B4D8"/>
                </a:solidFill>
              </a:rPr>
              <a:t>feature interactions</a:t>
            </a:r>
            <a:r>
              <a:rPr lang="en-US" sz="1150" dirty="0">
                <a:solidFill>
                  <a:srgbClr val="CBD5E0"/>
                </a:solidFill>
              </a:rPr>
              <a:t> (e.g., how degree type interacts with job sector to influence salary). With 200 estimators and a conservative 0.08 learning rate, the model learns gradually without overfitting.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MODEL PERFORMANCE &amp; EVALUATION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Comprehensive metrics on 2,200 held-out test samples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1627632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2029968"/>
            <a:ext cx="162763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6032" y="10058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~0.94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" y="16459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R² 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1849701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0"/>
                </a:solidFill>
              </a:rPr>
              <a:t>Variance explained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93392" y="960120"/>
            <a:ext cx="1627632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2029968"/>
            <a:ext cx="1627632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93392" y="10058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</a:rPr>
              <a:t>~₹50K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93392" y="16459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Mean Abs Error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93392" y="1849701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0"/>
                </a:solidFill>
              </a:rPr>
              <a:t>Avg prediction error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30752" y="960120"/>
            <a:ext cx="1627632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730752" y="2029968"/>
            <a:ext cx="1627632" cy="7315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730752" y="10058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5D4"/>
                </a:solidFill>
              </a:rPr>
              <a:t>~₹1.2L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30752" y="16459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RMSE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30752" y="1849701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0"/>
                </a:solidFill>
              </a:rPr>
              <a:t>Root mean sq. error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68112" y="960120"/>
            <a:ext cx="1627632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68112" y="2029968"/>
            <a:ext cx="162763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68112" y="10058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8,800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68112" y="16459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Training Records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68112" y="1849701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0"/>
                </a:solidFill>
              </a:rPr>
              <a:t>80% of total dataset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05472" y="960120"/>
            <a:ext cx="1627632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205472" y="2029968"/>
            <a:ext cx="1627632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205472" y="100584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</a:rPr>
              <a:t>2,200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05472" y="16459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Records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05472" y="1849701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BD5E0"/>
                </a:solidFill>
              </a:rPr>
              <a:t>20% for evaluation</a:t>
            </a:r>
            <a:endParaRPr lang="en-US" sz="85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274320" y="2240280"/>
          <a:ext cx="54864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1"/>
          <p:cNvSpPr/>
          <p:nvPr/>
        </p:nvSpPr>
        <p:spPr>
          <a:xfrm>
            <a:off x="5989320" y="2240280"/>
            <a:ext cx="2880360" cy="27020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5989320" y="2240280"/>
            <a:ext cx="28803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035040" y="22402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080760" y="2633472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R² = 0.94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The model explains 94% of all salary variation in unseen test data — significantly above the 0.85 threshold considered strong for compensation models.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</a:rPr>
              <a:t>MAE = ₹50,000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Predictions are off by just ₹50K on average — acceptable for career planning purposes where ±₹1L margin is standard.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No Overfitting: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Train R²: ~0.97 vs Test R²: ~0.94 — a small gap confirming good generalization.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STREAMLIT WEB APPLICATION — DESIGN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User interface design, inputs, and outputs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969264"/>
            <a:ext cx="41148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969264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9692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AI Salary Predictor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384048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499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</a:rPr>
              <a:t>Education Degree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1554480"/>
            <a:ext cx="59436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20440" y="15544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874520"/>
            <a:ext cx="384048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1911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</a:rPr>
              <a:t>Specialization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1965960"/>
            <a:ext cx="59436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20440" y="1965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384048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23225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</a:rPr>
              <a:t>Experience (Years)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2377440"/>
            <a:ext cx="59436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20440" y="23774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697480"/>
            <a:ext cx="384048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2734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</a:rPr>
              <a:t>Job Sector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2788920"/>
            <a:ext cx="59436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20440" y="27889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108960"/>
            <a:ext cx="384048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3145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</a:rPr>
              <a:t>Job Role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0440" y="3200400"/>
            <a:ext cx="59436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20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520440"/>
            <a:ext cx="384048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35570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</a:rPr>
              <a:t>Company Size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20440" y="3611880"/>
            <a:ext cx="59436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520440" y="36118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384048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" y="3968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</a:rPr>
              <a:t>City Tier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20440" y="4023360"/>
            <a:ext cx="59436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520440" y="40233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▼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425696"/>
            <a:ext cx="38404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65760" y="4425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▶  Predict My Salary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9692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Application Features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663440" y="13716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709160" y="151790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074920" y="1408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7 Smart Dropdowns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074920" y="16824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All inputs use curated dropdowns — no free text. Prevents errors and ensures valid combinations.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20574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709160" y="220370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074920" y="2093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Instant Prediction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074920" y="2368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Results appear in under 1 second. The serialized model loads at app startup for zero latency.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27432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709160" y="288950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074920" y="2779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Salary Range Display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074920" y="3054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Shows Min–Max range (±10%) alongside the point estimate for realistic expectation setting.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34290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09160" y="357530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074920" y="3465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Monthly Estimate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074920" y="3739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Annual CTC is automatically divided by 12 and displayed as take-home monthly estimate.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411480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09160" y="426110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07492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Mobile-Friendly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074920" y="4425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Streamlit's responsive layout works on phones, tablets, and desktops without extra configuration.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APPLICATION OUTPUT — WHAT THE USER SEES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Three key salary outputs displayed to the 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969264"/>
            <a:ext cx="8595360" cy="7315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969264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0E0EF"/>
                </a:solidFill>
              </a:rPr>
              <a:t>SAMPLE INPUT:  B.Tech  |  Computer Science  |  5 Years  |  IT Sector  |  Data Analyst  |  MNC  |  Tier 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" y="1874520"/>
            <a:ext cx="2788920" cy="2880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874520"/>
            <a:ext cx="27889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29968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47472" y="2651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Predicted Annual Salary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30358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₹14.8 Lakhs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7472" y="3694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</a:rPr>
              <a:t>Per Annum (CTC)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3192" y="4005072"/>
            <a:ext cx="2514600" cy="685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38912" y="4023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Based on the Gradient Boosting model trained on 8,800 records of similar profiles.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00400" y="1874520"/>
            <a:ext cx="2788920" cy="2880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200400" y="1874520"/>
            <a:ext cx="2788920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029968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91840" y="2651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Expected Salary Range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291840" y="30358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</a:rPr>
              <a:t>₹13.3 – ₹16.3 L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3291840" y="3694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</a:rPr>
              <a:t>Min–Max (±10%)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337560" y="4005072"/>
            <a:ext cx="2514600" cy="685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3383280" y="4023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Actual salary likely falls in this range based on company variation and negotiation.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44768" y="1874520"/>
            <a:ext cx="2788920" cy="2880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6144768" y="1874520"/>
            <a:ext cx="2788920" cy="9144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2029968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36208" y="2651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Monthly Estimate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236208" y="303580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5D4"/>
                </a:solidFill>
              </a:rPr>
              <a:t>₹1.23 Lakhs/mo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6236208" y="36941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</a:rPr>
              <a:t>Annual ÷ 12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281928" y="4005072"/>
            <a:ext cx="2514600" cy="685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6327648" y="4023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Pre-tax monthly CTC estimate for financial planning and offer comparison.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200" dirty="0">
                <a:solidFill>
                  <a:srgbClr val="FFFFFF"/>
                </a:solidFill>
              </a:rPr>
              <a:t>TECHNOLOGIES USED — FULL STACK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</a:rPr>
              <a:t>Every library, framework, and tool used in this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969264"/>
            <a:ext cx="2029968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6032" y="969264"/>
            <a:ext cx="2029968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03327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8952" y="102412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3.x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" y="12435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</a:rPr>
              <a:t>Core Language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7472" y="1536192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All code — data generation, preprocessing, training, app — written in Python 3.10+.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32304" y="969264"/>
            <a:ext cx="2029968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432304" y="969264"/>
            <a:ext cx="2029968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3327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35224" y="102412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935224" y="12435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</a:rPr>
              <a:t>Data Manipulation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23744" y="1536192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DataFrames for loading, cleaning, transforming the 11,000-record dataset.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08576" y="969264"/>
            <a:ext cx="2029968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608576" y="969264"/>
            <a:ext cx="2029968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033272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11496" y="102412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NumPy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111496" y="12435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</a:rPr>
              <a:t>Numerical Computing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700016" y="1536192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Array operations, vectorized math for preprocessing and feature scaling.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784848" y="969264"/>
            <a:ext cx="2029968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84848" y="969264"/>
            <a:ext cx="2029968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1033272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87768" y="102412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287768" y="1243584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</a:rPr>
              <a:t>ML Framework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876288" y="1536192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GradientBoostingRegressor, Pipeline, OneHotEncoder, StandardScaler, train_test_split.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256032" y="2907792"/>
            <a:ext cx="2029968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256032" y="2907792"/>
            <a:ext cx="2029968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2971800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58952" y="29626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Joblib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758952" y="318211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</a:rPr>
              <a:t>Model Serialization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347472" y="3474720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Saves the trained pipeline to a .pkl file for loading in the Streamlit app at runtime.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2432304" y="2907792"/>
            <a:ext cx="2029968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2432304" y="2907792"/>
            <a:ext cx="2029968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2971800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2935224" y="29626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2935224" y="318211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</a:rPr>
              <a:t>Web Application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2523744" y="3474720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Converts Python script into an interactive web app. Provides selectbox, slider, button, and metric widgets.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4608576" y="2907792"/>
            <a:ext cx="2029968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37"/>
          <p:cNvSpPr/>
          <p:nvPr/>
        </p:nvSpPr>
        <p:spPr>
          <a:xfrm>
            <a:off x="4608576" y="2907792"/>
            <a:ext cx="2029968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0872" y="2971800"/>
            <a:ext cx="347472" cy="34747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111496" y="29626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5111496" y="318211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</a:rPr>
              <a:t>Version Control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4700016" y="3474720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Source code hosted on GitHub. Streamlit Cloud connects directly to the repo for CI/CD deployment.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6784848" y="2907792"/>
            <a:ext cx="2029968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2"/>
          <p:cNvSpPr/>
          <p:nvPr/>
        </p:nvSpPr>
        <p:spPr>
          <a:xfrm>
            <a:off x="6784848" y="2907792"/>
            <a:ext cx="2029968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7144" y="2971800"/>
            <a:ext cx="347472" cy="347472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7287768" y="2962656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 Cloud</a:t>
            </a:r>
            <a:endParaRPr lang="en-US" sz="1200" dirty="0"/>
          </a:p>
        </p:txBody>
      </p:sp>
      <p:sp>
        <p:nvSpPr>
          <p:cNvPr id="54" name="Text 44"/>
          <p:cNvSpPr/>
          <p:nvPr/>
        </p:nvSpPr>
        <p:spPr>
          <a:xfrm>
            <a:off x="7287768" y="318211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</a:rPr>
              <a:t>Deployment Platform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6876288" y="3474720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Free public hosting for Streamlit apps. Auto-deploys on every GitHub push. No server setup needed.</a:t>
            </a:r>
            <a:endParaRPr lang="en-US" sz="95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3090390-DB4D-84B8-78E5-0D742584113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5966" t="6118" r="8932" b="6398"/>
          <a:stretch>
            <a:fillRect/>
          </a:stretch>
        </p:blipFill>
        <p:spPr>
          <a:xfrm>
            <a:off x="7692941" y="19098"/>
            <a:ext cx="1451059" cy="9227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700" dirty="0">
                <a:solidFill>
                  <a:srgbClr val="00B4D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 Complete AI-Powered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Salary Prediction System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196596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2048256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</a:rPr>
              <a:t>11,000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7249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0"/>
                </a:solidFill>
              </a:rPr>
              <a:t>Training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41448" y="1993392"/>
            <a:ext cx="196596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41448" y="2048256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703"/>
                </a:solidFill>
              </a:rPr>
              <a:t>~0.94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41448" y="27249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0"/>
                </a:solidFill>
              </a:rPr>
              <a:t>R² Accuracy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62856" y="1993392"/>
            <a:ext cx="196596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62856" y="2048256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F5D4"/>
                </a:solidFill>
              </a:rPr>
              <a:t>148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62856" y="27249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0"/>
                </a:solidFill>
              </a:rPr>
              <a:t>Specializations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84264" y="1993392"/>
            <a:ext cx="196596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84264" y="2048256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</a:rPr>
              <a:t>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684264" y="27249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0"/>
                </a:solidFill>
              </a:rPr>
              <a:t>User Inputs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564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0"/>
                </a:solidFill>
              </a:rPr>
              <a:t>This project demonstrates the full lifecycle of a production-ready machine learning solution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CBD5E0"/>
                </a:solidFill>
              </a:rPr>
              <a:t>from data engineering and model training to web deployment and user experience design.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CBD5E0"/>
                </a:solidFill>
              </a:rPr>
              <a:t>The system empowers students, professionals, and recruiters with data-backed salary intelligence.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E4A7FCA-9435-C5E8-10BF-8B4B22CC54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23" t="8075" r="26900" b="17157"/>
          <a:stretch>
            <a:fillRect/>
          </a:stretch>
        </p:blipFill>
        <p:spPr>
          <a:xfrm>
            <a:off x="7264522" y="128017"/>
            <a:ext cx="1835935" cy="16550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1560</Words>
  <Application>Microsoft Office PowerPoint</Application>
  <PresentationFormat>On-screen Show (16:9)</PresentationFormat>
  <Paragraphs>286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Salary Prediction System — Detailed</dc:title>
  <dc:subject>PptxGenJS Presentation</dc:subject>
  <dc:creator>PptxGenJS</dc:creator>
  <cp:lastModifiedBy>𝕾𝖍𝖚𝖇𝖍𝖆𝖒 ..</cp:lastModifiedBy>
  <cp:revision>9</cp:revision>
  <dcterms:created xsi:type="dcterms:W3CDTF">2026-03-05T09:07:06Z</dcterms:created>
  <dcterms:modified xsi:type="dcterms:W3CDTF">2026-03-05T12:04:49Z</dcterms:modified>
</cp:coreProperties>
</file>